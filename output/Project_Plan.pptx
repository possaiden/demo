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9265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All processes live by 04 May 2027 — 28 weeks from contract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9265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★ Contract signed 19 Oct 2026   ·   3 processes   ·   phased go-live by vertical</a:t>
            </a:r>
          </a:p>
        </p:txBody>
      </p:sp>
      <p:sp>
        <p:nvSpPr>
          <p:cNvPr id="4" name="Card P2P"/>
          <p:cNvSpPr/>
          <p:nvPr/>
        </p:nvSpPr>
        <p:spPr>
          <a:xfrm>
            <a:off x="457200" y="1508760"/>
            <a:ext cx="3576218" cy="3886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Procure-to-Pay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85800" cy="2743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◆  GO-LIVE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0392B"/>
                </a:solidFill>
                <a:latin typeface="Calibri"/>
              </a:rPr>
              <a:t>23 Feb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Tuesday  ·  18 weeks from contract</a:t>
            </a:r>
          </a:p>
        </p:txBody>
      </p:sp>
      <p:sp>
        <p:nvSpPr>
          <p:cNvPr id="10" name="P2P Hiring"/>
          <p:cNvSpPr/>
          <p:nvPr/>
        </p:nvSpPr>
        <p:spPr>
          <a:xfrm>
            <a:off x="731520" y="4251960"/>
            <a:ext cx="1345590" cy="292608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8w</a:t>
            </a:r>
          </a:p>
        </p:txBody>
      </p:sp>
      <p:sp>
        <p:nvSpPr>
          <p:cNvPr id="11" name="P2P Pre-Onboarding"/>
          <p:cNvSpPr/>
          <p:nvPr/>
        </p:nvSpPr>
        <p:spPr>
          <a:xfrm>
            <a:off x="2077110" y="4251960"/>
            <a:ext cx="336397" cy="292608"/>
          </a:xfrm>
          <a:prstGeom prst="rect">
            <a:avLst/>
          </a:prstGeom>
          <a:solidFill>
            <a:srgbClr val="9BBBD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2w</a:t>
            </a:r>
          </a:p>
        </p:txBody>
      </p:sp>
      <p:sp>
        <p:nvSpPr>
          <p:cNvPr id="12" name="P2P Knowledge Transfer"/>
          <p:cNvSpPr/>
          <p:nvPr/>
        </p:nvSpPr>
        <p:spPr>
          <a:xfrm>
            <a:off x="2413508" y="4251960"/>
            <a:ext cx="672795" cy="292608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4w</a:t>
            </a:r>
          </a:p>
        </p:txBody>
      </p:sp>
      <p:sp>
        <p:nvSpPr>
          <p:cNvPr id="13" name="P2P Guided Production"/>
          <p:cNvSpPr/>
          <p:nvPr/>
        </p:nvSpPr>
        <p:spPr>
          <a:xfrm>
            <a:off x="3086303" y="4251960"/>
            <a:ext cx="672795" cy="29260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Hiring → Pre-Onboarding → KT → Guided Production</a:t>
            </a:r>
          </a:p>
        </p:txBody>
      </p:sp>
      <p:sp>
        <p:nvSpPr>
          <p:cNvPr id="15" name="Card OTC"/>
          <p:cNvSpPr/>
          <p:nvPr/>
        </p:nvSpPr>
        <p:spPr>
          <a:xfrm>
            <a:off x="4307738" y="1508760"/>
            <a:ext cx="3576218" cy="3886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173736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Order-to-Cash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2058" y="2194560"/>
            <a:ext cx="685800" cy="2743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2058" y="269748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◆  GO-LIVE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29718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0392B"/>
                </a:solidFill>
                <a:latin typeface="Calibri"/>
              </a:rPr>
              <a:t>23 Feb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370332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Tuesday  ·  18 weeks from contract</a:t>
            </a:r>
          </a:p>
        </p:txBody>
      </p:sp>
      <p:sp>
        <p:nvSpPr>
          <p:cNvPr id="21" name="OTC Hiring"/>
          <p:cNvSpPr/>
          <p:nvPr/>
        </p:nvSpPr>
        <p:spPr>
          <a:xfrm>
            <a:off x="4582058" y="4251960"/>
            <a:ext cx="1345590" cy="292608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8w</a:t>
            </a:r>
          </a:p>
        </p:txBody>
      </p:sp>
      <p:sp>
        <p:nvSpPr>
          <p:cNvPr id="22" name="OTC Pre-Onboarding"/>
          <p:cNvSpPr/>
          <p:nvPr/>
        </p:nvSpPr>
        <p:spPr>
          <a:xfrm>
            <a:off x="5927648" y="4251960"/>
            <a:ext cx="336397" cy="292608"/>
          </a:xfrm>
          <a:prstGeom prst="rect">
            <a:avLst/>
          </a:prstGeom>
          <a:solidFill>
            <a:srgbClr val="9BBBD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2w</a:t>
            </a:r>
          </a:p>
        </p:txBody>
      </p:sp>
      <p:sp>
        <p:nvSpPr>
          <p:cNvPr id="23" name="OTC Knowledge Transfer"/>
          <p:cNvSpPr/>
          <p:nvPr/>
        </p:nvSpPr>
        <p:spPr>
          <a:xfrm>
            <a:off x="6264046" y="4251960"/>
            <a:ext cx="672795" cy="292608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4w</a:t>
            </a:r>
          </a:p>
        </p:txBody>
      </p:sp>
      <p:sp>
        <p:nvSpPr>
          <p:cNvPr id="24" name="OTC Guided Production"/>
          <p:cNvSpPr/>
          <p:nvPr/>
        </p:nvSpPr>
        <p:spPr>
          <a:xfrm>
            <a:off x="6936841" y="4251960"/>
            <a:ext cx="672795" cy="29260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2058" y="4663440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Hiring → Pre-Onboarding → KT → Guided Production</a:t>
            </a:r>
          </a:p>
        </p:txBody>
      </p:sp>
      <p:sp>
        <p:nvSpPr>
          <p:cNvPr id="26" name="Card RTR"/>
          <p:cNvSpPr/>
          <p:nvPr/>
        </p:nvSpPr>
        <p:spPr>
          <a:xfrm>
            <a:off x="8158276" y="1508760"/>
            <a:ext cx="3576218" cy="3886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2596" y="173736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Record-to-Report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2596" y="2194560"/>
            <a:ext cx="685800" cy="2743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596" y="269748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◆  GO-LIVE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2596" y="29718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0392B"/>
                </a:solidFill>
                <a:latin typeface="Calibri"/>
              </a:rPr>
              <a:t>04 May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596" y="370332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Tuesday  ·  28 weeks from contract</a:t>
            </a:r>
          </a:p>
        </p:txBody>
      </p:sp>
      <p:sp>
        <p:nvSpPr>
          <p:cNvPr id="32" name="RTR Hiring"/>
          <p:cNvSpPr/>
          <p:nvPr/>
        </p:nvSpPr>
        <p:spPr>
          <a:xfrm>
            <a:off x="8432596" y="4251960"/>
            <a:ext cx="1081278" cy="292608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10w</a:t>
            </a:r>
          </a:p>
        </p:txBody>
      </p:sp>
      <p:sp>
        <p:nvSpPr>
          <p:cNvPr id="33" name="RTR Pre-Onboarding"/>
          <p:cNvSpPr/>
          <p:nvPr/>
        </p:nvSpPr>
        <p:spPr>
          <a:xfrm>
            <a:off x="9513874" y="4251960"/>
            <a:ext cx="216255" cy="292608"/>
          </a:xfrm>
          <a:prstGeom prst="rect">
            <a:avLst/>
          </a:prstGeom>
          <a:solidFill>
            <a:srgbClr val="9BBBD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2w</a:t>
            </a:r>
          </a:p>
        </p:txBody>
      </p:sp>
      <p:sp>
        <p:nvSpPr>
          <p:cNvPr id="34" name="RTR Knowledge Transfer"/>
          <p:cNvSpPr/>
          <p:nvPr/>
        </p:nvSpPr>
        <p:spPr>
          <a:xfrm>
            <a:off x="9730130" y="4251960"/>
            <a:ext cx="865022" cy="292608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8w</a:t>
            </a:r>
          </a:p>
        </p:txBody>
      </p:sp>
      <p:sp>
        <p:nvSpPr>
          <p:cNvPr id="35" name="RTR Guided Production"/>
          <p:cNvSpPr/>
          <p:nvPr/>
        </p:nvSpPr>
        <p:spPr>
          <a:xfrm>
            <a:off x="10595152" y="4251960"/>
            <a:ext cx="865022" cy="29260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596" y="4663440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Hiring → Pre-Onboarding → KT → Guided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Critical path: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Record-to-Report (RTR) — 10-week hiring plus 8-week KT and 8-week Guided Production. Any slip in contract signature moves every go-live date one-for-one.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Finance Transition Program  |  Acme Corp  |  Working days Mon–Fri; 1 week = 5 working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40" name="Theme switch"/>
          <p:cNvSpPr/>
          <p:nvPr/>
        </p:nvSpPr>
        <p:spPr>
          <a:xfrm>
            <a:off x="9960559" y="3474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heme light"/>
          <p:cNvSpPr/>
          <p:nvPr/>
        </p:nvSpPr>
        <p:spPr>
          <a:xfrm>
            <a:off x="9997135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☀ Light</a:t>
            </a:r>
          </a:p>
        </p:txBody>
      </p:sp>
      <p:sp>
        <p:nvSpPr>
          <p:cNvPr id="42" name="Theme dark">
            <a:hlinkClick action="ppaction://hlinksldjump" r:id="rId2"/>
          </p:cNvPr>
          <p:cNvSpPr/>
          <p:nvPr/>
        </p:nvSpPr>
        <p:spPr>
          <a:xfrm>
            <a:off x="10893247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☾ Dark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9265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Timeline: contract to go-live by process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9265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★ Contract signed  ·  bars = working weeks per phase  ·  ◆ Go-Live = next working day after Guided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25880"/>
            <a:ext cx="50893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Oct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5010" y="1325880"/>
            <a:ext cx="11744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Nov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35010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609466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Dec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09466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823069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Jan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23069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036673" y="1325880"/>
            <a:ext cx="10961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Feb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6673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132832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Mar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2832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346435" y="1325880"/>
            <a:ext cx="11744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Apr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46435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0520891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May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27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20891" y="1325880"/>
            <a:ext cx="0" cy="4370832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926080" y="1709928"/>
            <a:ext cx="8808415" cy="0"/>
          </a:xfrm>
          <a:prstGeom prst="line">
            <a:avLst/>
          </a:prstGeom>
          <a:ln w="12700">
            <a:solidFill>
              <a:srgbClr val="6B7280"/>
            </a:solidFill>
          </a:ln>
        </p:spPr>
      </p:cxnSp>
      <p:sp>
        <p:nvSpPr>
          <p:cNvPr id="20" name="P2P band"/>
          <p:cNvSpPr/>
          <p:nvPr/>
        </p:nvSpPr>
        <p:spPr>
          <a:xfrm>
            <a:off x="457200" y="1783080"/>
            <a:ext cx="11277295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78308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Procure-to-Pay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  P2P</a:t>
            </a:r>
          </a:p>
        </p:txBody>
      </p:sp>
      <p:sp>
        <p:nvSpPr>
          <p:cNvPr id="22" name="P2P contract star"/>
          <p:cNvSpPr/>
          <p:nvPr/>
        </p:nvSpPr>
        <p:spPr>
          <a:xfrm>
            <a:off x="2807208" y="1828800"/>
            <a:ext cx="237744" cy="237744"/>
          </a:xfrm>
          <a:prstGeom prst="star5">
            <a:avLst/>
          </a:prstGeom>
          <a:solidFill>
            <a:srgbClr val="D4A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2P go-live"/>
          <p:cNvSpPr/>
          <p:nvPr/>
        </p:nvSpPr>
        <p:spPr>
          <a:xfrm>
            <a:off x="7788213" y="1837943"/>
            <a:ext cx="219456" cy="219456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2533" y="17830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Go-Live 23 Feb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1122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Hiring</a:t>
            </a:r>
          </a:p>
        </p:txBody>
      </p:sp>
      <p:sp>
        <p:nvSpPr>
          <p:cNvPr id="26" name="P2P Hiring bar"/>
          <p:cNvSpPr/>
          <p:nvPr/>
        </p:nvSpPr>
        <p:spPr>
          <a:xfrm>
            <a:off x="2965228" y="2148840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3B6EA5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wks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3408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Pre-Onboarding</a:t>
            </a:r>
          </a:p>
        </p:txBody>
      </p:sp>
      <p:sp>
        <p:nvSpPr>
          <p:cNvPr id="28" name="P2P Pre-Onboarding bar"/>
          <p:cNvSpPr/>
          <p:nvPr/>
        </p:nvSpPr>
        <p:spPr>
          <a:xfrm>
            <a:off x="5157545" y="2377440"/>
            <a:ext cx="548079" cy="155448"/>
          </a:xfrm>
          <a:prstGeom prst="roundRect">
            <a:avLst>
              <a:gd name="adj" fmla="val 25000"/>
            </a:avLst>
          </a:prstGeom>
          <a:solidFill>
            <a:srgbClr val="9BBBD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 wks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5694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Knowledge Transfer</a:t>
            </a:r>
          </a:p>
        </p:txBody>
      </p:sp>
      <p:sp>
        <p:nvSpPr>
          <p:cNvPr id="30" name="P2P Knowledge Transfer bar"/>
          <p:cNvSpPr/>
          <p:nvPr/>
        </p:nvSpPr>
        <p:spPr>
          <a:xfrm>
            <a:off x="5705624" y="2606040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4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7980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Guided Production</a:t>
            </a:r>
          </a:p>
        </p:txBody>
      </p:sp>
      <p:sp>
        <p:nvSpPr>
          <p:cNvPr id="32" name="P2P Guided Production bar"/>
          <p:cNvSpPr/>
          <p:nvPr/>
        </p:nvSpPr>
        <p:spPr>
          <a:xfrm>
            <a:off x="6801782" y="2834640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7B5EA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 wks</a:t>
            </a:r>
          </a:p>
        </p:txBody>
      </p:sp>
      <p:sp>
        <p:nvSpPr>
          <p:cNvPr id="33" name="OTC band"/>
          <p:cNvSpPr/>
          <p:nvPr/>
        </p:nvSpPr>
        <p:spPr>
          <a:xfrm>
            <a:off x="457200" y="3118104"/>
            <a:ext cx="11277295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1810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Order-to-Cash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  OTC</a:t>
            </a:r>
          </a:p>
        </p:txBody>
      </p:sp>
      <p:sp>
        <p:nvSpPr>
          <p:cNvPr id="35" name="OTC contract star"/>
          <p:cNvSpPr/>
          <p:nvPr/>
        </p:nvSpPr>
        <p:spPr>
          <a:xfrm>
            <a:off x="2807208" y="3163824"/>
            <a:ext cx="237744" cy="237744"/>
          </a:xfrm>
          <a:prstGeom prst="star5">
            <a:avLst/>
          </a:prstGeom>
          <a:solidFill>
            <a:srgbClr val="D4A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TC go-live"/>
          <p:cNvSpPr/>
          <p:nvPr/>
        </p:nvSpPr>
        <p:spPr>
          <a:xfrm>
            <a:off x="7788213" y="3172968"/>
            <a:ext cx="219456" cy="219456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2533" y="311810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Go-Live 23 Feb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44728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Hiring</a:t>
            </a:r>
          </a:p>
        </p:txBody>
      </p:sp>
      <p:sp>
        <p:nvSpPr>
          <p:cNvPr id="39" name="OTC Hiring bar"/>
          <p:cNvSpPr/>
          <p:nvPr/>
        </p:nvSpPr>
        <p:spPr>
          <a:xfrm>
            <a:off x="2965228" y="3483864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3B6EA5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wks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6758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Pre-Onboarding</a:t>
            </a:r>
          </a:p>
        </p:txBody>
      </p:sp>
      <p:sp>
        <p:nvSpPr>
          <p:cNvPr id="41" name="OTC Pre-Onboarding bar"/>
          <p:cNvSpPr/>
          <p:nvPr/>
        </p:nvSpPr>
        <p:spPr>
          <a:xfrm>
            <a:off x="5157545" y="3712463"/>
            <a:ext cx="548079" cy="155448"/>
          </a:xfrm>
          <a:prstGeom prst="roundRect">
            <a:avLst>
              <a:gd name="adj" fmla="val 25000"/>
            </a:avLst>
          </a:prstGeom>
          <a:solidFill>
            <a:srgbClr val="9BBBD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 wks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39044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Knowledge Transfer</a:t>
            </a:r>
          </a:p>
        </p:txBody>
      </p:sp>
      <p:sp>
        <p:nvSpPr>
          <p:cNvPr id="43" name="OTC Knowledge Transfer bar"/>
          <p:cNvSpPr/>
          <p:nvPr/>
        </p:nvSpPr>
        <p:spPr>
          <a:xfrm>
            <a:off x="5705624" y="3941063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4 wks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1330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Guided Production</a:t>
            </a:r>
          </a:p>
        </p:txBody>
      </p:sp>
      <p:sp>
        <p:nvSpPr>
          <p:cNvPr id="45" name="OTC Guided Production bar"/>
          <p:cNvSpPr/>
          <p:nvPr/>
        </p:nvSpPr>
        <p:spPr>
          <a:xfrm>
            <a:off x="6801782" y="4169663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7B5EA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 wks</a:t>
            </a:r>
          </a:p>
        </p:txBody>
      </p:sp>
      <p:sp>
        <p:nvSpPr>
          <p:cNvPr id="46" name="RTR band"/>
          <p:cNvSpPr/>
          <p:nvPr/>
        </p:nvSpPr>
        <p:spPr>
          <a:xfrm>
            <a:off x="457200" y="4453127"/>
            <a:ext cx="11277295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453127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Record-to-Report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  RTR</a:t>
            </a:r>
          </a:p>
        </p:txBody>
      </p:sp>
      <p:sp>
        <p:nvSpPr>
          <p:cNvPr id="48" name="RTR contract star"/>
          <p:cNvSpPr/>
          <p:nvPr/>
        </p:nvSpPr>
        <p:spPr>
          <a:xfrm>
            <a:off x="2807208" y="4498847"/>
            <a:ext cx="237744" cy="237744"/>
          </a:xfrm>
          <a:prstGeom prst="star5">
            <a:avLst/>
          </a:prstGeom>
          <a:solidFill>
            <a:srgbClr val="D4A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TR go-live"/>
          <p:cNvSpPr/>
          <p:nvPr/>
        </p:nvSpPr>
        <p:spPr>
          <a:xfrm>
            <a:off x="10528608" y="4507991"/>
            <a:ext cx="219456" cy="219456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2144" y="4453127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Calibri"/>
              </a:rPr>
              <a:t>Go-Live 04 May 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823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Hiring</a:t>
            </a:r>
          </a:p>
        </p:txBody>
      </p:sp>
      <p:sp>
        <p:nvSpPr>
          <p:cNvPr id="52" name="RTR Hiring bar"/>
          <p:cNvSpPr/>
          <p:nvPr/>
        </p:nvSpPr>
        <p:spPr>
          <a:xfrm>
            <a:off x="2965228" y="4818888"/>
            <a:ext cx="2740395" cy="155448"/>
          </a:xfrm>
          <a:prstGeom prst="roundRect">
            <a:avLst>
              <a:gd name="adj" fmla="val 25000"/>
            </a:avLst>
          </a:prstGeom>
          <a:solidFill>
            <a:srgbClr val="3B6EA5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 wks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010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Pre-Onboarding</a:t>
            </a:r>
          </a:p>
        </p:txBody>
      </p:sp>
      <p:sp>
        <p:nvSpPr>
          <p:cNvPr id="54" name="RTR Pre-Onboarding bar"/>
          <p:cNvSpPr/>
          <p:nvPr/>
        </p:nvSpPr>
        <p:spPr>
          <a:xfrm>
            <a:off x="5705624" y="5047488"/>
            <a:ext cx="548079" cy="155448"/>
          </a:xfrm>
          <a:prstGeom prst="roundRect">
            <a:avLst>
              <a:gd name="adj" fmla="val 25000"/>
            </a:avLst>
          </a:prstGeom>
          <a:solidFill>
            <a:srgbClr val="9BBBD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 wks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2395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Knowledge Transfer</a:t>
            </a:r>
          </a:p>
        </p:txBody>
      </p:sp>
      <p:sp>
        <p:nvSpPr>
          <p:cNvPr id="56" name="RTR Knowledge Transfer bar"/>
          <p:cNvSpPr/>
          <p:nvPr/>
        </p:nvSpPr>
        <p:spPr>
          <a:xfrm>
            <a:off x="6253703" y="5276088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8 wks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4681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Guided Production</a:t>
            </a:r>
          </a:p>
        </p:txBody>
      </p:sp>
      <p:sp>
        <p:nvSpPr>
          <p:cNvPr id="58" name="RTR Guided Production bar"/>
          <p:cNvSpPr/>
          <p:nvPr/>
        </p:nvSpPr>
        <p:spPr>
          <a:xfrm>
            <a:off x="8446020" y="5504688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7B5EA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wks</a:t>
            </a:r>
          </a:p>
        </p:txBody>
      </p:sp>
      <p:sp>
        <p:nvSpPr>
          <p:cNvPr id="59" name="5-Point Star 58"/>
          <p:cNvSpPr/>
          <p:nvPr/>
        </p:nvSpPr>
        <p:spPr>
          <a:xfrm>
            <a:off x="457200" y="6153912"/>
            <a:ext cx="182880" cy="182880"/>
          </a:xfrm>
          <a:prstGeom prst="star5">
            <a:avLst/>
          </a:prstGeom>
          <a:solidFill>
            <a:srgbClr val="D4A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6126480"/>
            <a:ext cx="11201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Contract Signed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61972" y="6153912"/>
            <a:ext cx="365760" cy="182880"/>
          </a:xfrm>
          <a:prstGeom prst="roundRect">
            <a:avLst/>
          </a:prstGeom>
          <a:solidFill>
            <a:srgbClr val="3B6E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00884" y="6126480"/>
            <a:ext cx="5029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Hiring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32403" y="6153912"/>
            <a:ext cx="365760" cy="182880"/>
          </a:xfrm>
          <a:prstGeom prst="roundRect">
            <a:avLst/>
          </a:prstGeom>
          <a:solidFill>
            <a:srgbClr val="9BB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1315" y="612648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Pre-Onboarding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51476" y="6153912"/>
            <a:ext cx="365760" cy="182880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90388" y="6126480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Knowledge Transfer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4868" y="6153912"/>
            <a:ext cx="365760" cy="182880"/>
          </a:xfrm>
          <a:prstGeom prst="roundRect">
            <a:avLst/>
          </a:prstGeom>
          <a:solidFill>
            <a:srgbClr val="7B5E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83780" y="6126480"/>
            <a:ext cx="12573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Guided Production</a:t>
            </a:r>
          </a:p>
        </p:txBody>
      </p:sp>
      <p:sp>
        <p:nvSpPr>
          <p:cNvPr id="69" name="Diamond 68"/>
          <p:cNvSpPr/>
          <p:nvPr/>
        </p:nvSpPr>
        <p:spPr>
          <a:xfrm>
            <a:off x="8869680" y="6153912"/>
            <a:ext cx="182880" cy="182880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25712" y="6126480"/>
            <a:ext cx="5715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Finance Transition Program  |  Acme Corp  |  Working days Mon–Fri; 1 week = 5 working days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3" name="Theme switch"/>
          <p:cNvSpPr/>
          <p:nvPr/>
        </p:nvSpPr>
        <p:spPr>
          <a:xfrm>
            <a:off x="9960559" y="3474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heme light"/>
          <p:cNvSpPr/>
          <p:nvPr/>
        </p:nvSpPr>
        <p:spPr>
          <a:xfrm>
            <a:off x="9997135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☀ Light</a:t>
            </a:r>
          </a:p>
        </p:txBody>
      </p:sp>
      <p:sp>
        <p:nvSpPr>
          <p:cNvPr id="75" name="Theme dark">
            <a:hlinkClick action="ppaction://hlinksldjump" r:id="rId2"/>
          </p:cNvPr>
          <p:cNvSpPr/>
          <p:nvPr/>
        </p:nvSpPr>
        <p:spPr>
          <a:xfrm>
            <a:off x="10893247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☾ Dark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9265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Key dates and planning rules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9265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All dates are working days; edit the Excel 'Inputs' sheet to re-plan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600200"/>
                <a:gridCol w="1600200"/>
                <a:gridCol w="1600200"/>
                <a:gridCol w="1600200"/>
                <a:gridCol w="149321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★ Contract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Hiring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Pre-Onboarding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Knowledge Transfer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Guided Production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◆ Go-Live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Procure-to-Pay (P2P)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19-Oct-26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20-Oct → 14-Dec  (8w)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15-Dec → 28-Dec  (2w)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29-Dec → 25-Jan  (4w)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26-Jan → 22-Feb  (4w)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23-Feb-27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Order-to-Cash (OTC)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19-Oct-26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20-Oct → 14-Dec  (8w)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15-Dec → 28-Dec  (2w)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29-Dec → 25-Jan  (4w)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26-Jan → 22-Feb  (4w)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23-Feb-27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Record-to-Report (RTR)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19-Oct-26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20-Oct → 28-Dec  (10w)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29-Dec → 11-Jan  (2w)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12-Jan → 08-Mar  (8w)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09-Mar → 03-May  (8w)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04-May-27</a:t>
                      </a:r>
                    </a:p>
                  </a:txBody>
                  <a:tcPr marL="73152" marR="73152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Planning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★ Contract Signed — project date (can be overridden per process)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Hiring — 8 to 10 weeks standard, from the next working day after contract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Pre-Onboarding — 2 weeks after hiring end date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Knowledge Transfer — P2P 4w, OTC 4w, RTR 8w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Guided Production — P2P 4w, OTC 4w, RTR 8w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◆ Go-Live — next working day after Guided Production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374903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Colour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4206240"/>
            <a:ext cx="411480" cy="219456"/>
          </a:xfrm>
          <a:prstGeom prst="roundRect">
            <a:avLst/>
          </a:prstGeom>
          <a:solidFill>
            <a:srgbClr val="3B6E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417880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590288"/>
            <a:ext cx="411480" cy="219456"/>
          </a:xfrm>
          <a:prstGeom prst="roundRect">
            <a:avLst/>
          </a:prstGeom>
          <a:solidFill>
            <a:srgbClr val="9BB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456285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Pre-Onboarding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974336"/>
            <a:ext cx="411480" cy="219456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494690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Knowledge 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5358383"/>
            <a:ext cx="411480" cy="219456"/>
          </a:xfrm>
          <a:prstGeom prst="roundRect">
            <a:avLst/>
          </a:prstGeom>
          <a:solidFill>
            <a:srgbClr val="7B5E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533095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Guided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Finance Transition Program  |  Acme Corp  |  Working days Mon–Fri; 1 week = 5 working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8" name="Theme switch"/>
          <p:cNvSpPr/>
          <p:nvPr/>
        </p:nvSpPr>
        <p:spPr>
          <a:xfrm>
            <a:off x="9960559" y="3474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heme light"/>
          <p:cNvSpPr/>
          <p:nvPr/>
        </p:nvSpPr>
        <p:spPr>
          <a:xfrm>
            <a:off x="9997135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☀ Light</a:t>
            </a:r>
          </a:p>
        </p:txBody>
      </p:sp>
      <p:sp>
        <p:nvSpPr>
          <p:cNvPr id="20" name="Theme dark">
            <a:hlinkClick action="ppaction://hlinksldjump" r:id="rId2"/>
          </p:cNvPr>
          <p:cNvSpPr/>
          <p:nvPr/>
        </p:nvSpPr>
        <p:spPr>
          <a:xfrm>
            <a:off x="10893247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☾ Dark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9265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Calibri"/>
              </a:rPr>
              <a:t>All processes live by 04 May 2027 — 28 weeks from contract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9265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★ Contract signed 19 Oct 2026   ·   3 processes   ·   phased go-live by vertical</a:t>
            </a:r>
          </a:p>
        </p:txBody>
      </p:sp>
      <p:sp>
        <p:nvSpPr>
          <p:cNvPr id="4" name="Card P2P"/>
          <p:cNvSpPr/>
          <p:nvPr/>
        </p:nvSpPr>
        <p:spPr>
          <a:xfrm>
            <a:off x="457200" y="1508760"/>
            <a:ext cx="3576218" cy="3886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Calibri"/>
              </a:rPr>
              <a:t>Procure-to-Pay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85800" cy="274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P2P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◆  GO-LIVE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87171"/>
                </a:solidFill>
                <a:latin typeface="Calibri"/>
              </a:rPr>
              <a:t>23 Feb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Tuesday  ·  18 weeks from contract</a:t>
            </a:r>
          </a:p>
        </p:txBody>
      </p:sp>
      <p:sp>
        <p:nvSpPr>
          <p:cNvPr id="10" name="P2P Hiring"/>
          <p:cNvSpPr/>
          <p:nvPr/>
        </p:nvSpPr>
        <p:spPr>
          <a:xfrm>
            <a:off x="731520" y="4251960"/>
            <a:ext cx="1345590" cy="292608"/>
          </a:xfrm>
          <a:prstGeom prst="rect">
            <a:avLst/>
          </a:prstGeom>
          <a:solidFill>
            <a:srgbClr val="5B8FD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8w</a:t>
            </a:r>
          </a:p>
        </p:txBody>
      </p:sp>
      <p:sp>
        <p:nvSpPr>
          <p:cNvPr id="11" name="P2P Pre-Onboarding"/>
          <p:cNvSpPr/>
          <p:nvPr/>
        </p:nvSpPr>
        <p:spPr>
          <a:xfrm>
            <a:off x="2077110" y="4251960"/>
            <a:ext cx="336397" cy="292608"/>
          </a:xfrm>
          <a:prstGeom prst="rect">
            <a:avLst/>
          </a:prstGeom>
          <a:solidFill>
            <a:srgbClr val="A9C6E8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2w</a:t>
            </a:r>
          </a:p>
        </p:txBody>
      </p:sp>
      <p:sp>
        <p:nvSpPr>
          <p:cNvPr id="12" name="P2P Knowledge Transfer"/>
          <p:cNvSpPr/>
          <p:nvPr/>
        </p:nvSpPr>
        <p:spPr>
          <a:xfrm>
            <a:off x="2413508" y="4251960"/>
            <a:ext cx="672795" cy="292608"/>
          </a:xfrm>
          <a:prstGeom prst="rect">
            <a:avLst/>
          </a:prstGeom>
          <a:solidFill>
            <a:srgbClr val="F5B85A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4w</a:t>
            </a:r>
          </a:p>
        </p:txBody>
      </p:sp>
      <p:sp>
        <p:nvSpPr>
          <p:cNvPr id="13" name="P2P Guided Production"/>
          <p:cNvSpPr/>
          <p:nvPr/>
        </p:nvSpPr>
        <p:spPr>
          <a:xfrm>
            <a:off x="3086303" y="4251960"/>
            <a:ext cx="672795" cy="292608"/>
          </a:xfrm>
          <a:prstGeom prst="rect">
            <a:avLst/>
          </a:prstGeom>
          <a:solidFill>
            <a:srgbClr val="A68BD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Hiring → Pre-Onboarding → KT → Guided Production</a:t>
            </a:r>
          </a:p>
        </p:txBody>
      </p:sp>
      <p:sp>
        <p:nvSpPr>
          <p:cNvPr id="15" name="Card OTC"/>
          <p:cNvSpPr/>
          <p:nvPr/>
        </p:nvSpPr>
        <p:spPr>
          <a:xfrm>
            <a:off x="4307738" y="1508760"/>
            <a:ext cx="3576218" cy="3886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173736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Calibri"/>
              </a:rPr>
              <a:t>Order-to-Cash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2058" y="2194560"/>
            <a:ext cx="685800" cy="274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OTC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2058" y="269748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◆  GO-LIVE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29718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87171"/>
                </a:solidFill>
                <a:latin typeface="Calibri"/>
              </a:rPr>
              <a:t>23 Feb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370332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Tuesday  ·  18 weeks from contract</a:t>
            </a:r>
          </a:p>
        </p:txBody>
      </p:sp>
      <p:sp>
        <p:nvSpPr>
          <p:cNvPr id="21" name="OTC Hiring"/>
          <p:cNvSpPr/>
          <p:nvPr/>
        </p:nvSpPr>
        <p:spPr>
          <a:xfrm>
            <a:off x="4582058" y="4251960"/>
            <a:ext cx="1345590" cy="292608"/>
          </a:xfrm>
          <a:prstGeom prst="rect">
            <a:avLst/>
          </a:prstGeom>
          <a:solidFill>
            <a:srgbClr val="5B8FD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8w</a:t>
            </a:r>
          </a:p>
        </p:txBody>
      </p:sp>
      <p:sp>
        <p:nvSpPr>
          <p:cNvPr id="22" name="OTC Pre-Onboarding"/>
          <p:cNvSpPr/>
          <p:nvPr/>
        </p:nvSpPr>
        <p:spPr>
          <a:xfrm>
            <a:off x="5927648" y="4251960"/>
            <a:ext cx="336397" cy="292608"/>
          </a:xfrm>
          <a:prstGeom prst="rect">
            <a:avLst/>
          </a:prstGeom>
          <a:solidFill>
            <a:srgbClr val="A9C6E8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2w</a:t>
            </a:r>
          </a:p>
        </p:txBody>
      </p:sp>
      <p:sp>
        <p:nvSpPr>
          <p:cNvPr id="23" name="OTC Knowledge Transfer"/>
          <p:cNvSpPr/>
          <p:nvPr/>
        </p:nvSpPr>
        <p:spPr>
          <a:xfrm>
            <a:off x="6264046" y="4251960"/>
            <a:ext cx="672795" cy="292608"/>
          </a:xfrm>
          <a:prstGeom prst="rect">
            <a:avLst/>
          </a:prstGeom>
          <a:solidFill>
            <a:srgbClr val="F5B85A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4w</a:t>
            </a:r>
          </a:p>
        </p:txBody>
      </p:sp>
      <p:sp>
        <p:nvSpPr>
          <p:cNvPr id="24" name="OTC Guided Production"/>
          <p:cNvSpPr/>
          <p:nvPr/>
        </p:nvSpPr>
        <p:spPr>
          <a:xfrm>
            <a:off x="6936841" y="4251960"/>
            <a:ext cx="672795" cy="292608"/>
          </a:xfrm>
          <a:prstGeom prst="rect">
            <a:avLst/>
          </a:prstGeom>
          <a:solidFill>
            <a:srgbClr val="A68BD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2058" y="4663440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Hiring → Pre-Onboarding → KT → Guided Production</a:t>
            </a:r>
          </a:p>
        </p:txBody>
      </p:sp>
      <p:sp>
        <p:nvSpPr>
          <p:cNvPr id="26" name="Card RTR"/>
          <p:cNvSpPr/>
          <p:nvPr/>
        </p:nvSpPr>
        <p:spPr>
          <a:xfrm>
            <a:off x="8158276" y="1508760"/>
            <a:ext cx="3576218" cy="3886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2596" y="173736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Calibri"/>
              </a:rPr>
              <a:t>Record-to-Report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2596" y="2194560"/>
            <a:ext cx="685800" cy="274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RTR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596" y="269748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◆  GO-LIVE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2596" y="29718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87171"/>
                </a:solidFill>
                <a:latin typeface="Calibri"/>
              </a:rPr>
              <a:t>04 May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596" y="3703320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Tuesday  ·  28 weeks from contract</a:t>
            </a:r>
          </a:p>
        </p:txBody>
      </p:sp>
      <p:sp>
        <p:nvSpPr>
          <p:cNvPr id="32" name="RTR Hiring"/>
          <p:cNvSpPr/>
          <p:nvPr/>
        </p:nvSpPr>
        <p:spPr>
          <a:xfrm>
            <a:off x="8432596" y="4251960"/>
            <a:ext cx="1081278" cy="292608"/>
          </a:xfrm>
          <a:prstGeom prst="rect">
            <a:avLst/>
          </a:prstGeom>
          <a:solidFill>
            <a:srgbClr val="5B8FD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10w</a:t>
            </a:r>
          </a:p>
        </p:txBody>
      </p:sp>
      <p:sp>
        <p:nvSpPr>
          <p:cNvPr id="33" name="RTR Pre-Onboarding"/>
          <p:cNvSpPr/>
          <p:nvPr/>
        </p:nvSpPr>
        <p:spPr>
          <a:xfrm>
            <a:off x="9513874" y="4251960"/>
            <a:ext cx="216255" cy="292608"/>
          </a:xfrm>
          <a:prstGeom prst="rect">
            <a:avLst/>
          </a:prstGeom>
          <a:solidFill>
            <a:srgbClr val="A9C6E8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2w</a:t>
            </a:r>
          </a:p>
        </p:txBody>
      </p:sp>
      <p:sp>
        <p:nvSpPr>
          <p:cNvPr id="34" name="RTR Knowledge Transfer"/>
          <p:cNvSpPr/>
          <p:nvPr/>
        </p:nvSpPr>
        <p:spPr>
          <a:xfrm>
            <a:off x="9730130" y="4251960"/>
            <a:ext cx="865022" cy="292608"/>
          </a:xfrm>
          <a:prstGeom prst="rect">
            <a:avLst/>
          </a:prstGeom>
          <a:solidFill>
            <a:srgbClr val="F5B85A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8w</a:t>
            </a:r>
          </a:p>
        </p:txBody>
      </p:sp>
      <p:sp>
        <p:nvSpPr>
          <p:cNvPr id="35" name="RTR Guided Production"/>
          <p:cNvSpPr/>
          <p:nvPr/>
        </p:nvSpPr>
        <p:spPr>
          <a:xfrm>
            <a:off x="10595152" y="4251960"/>
            <a:ext cx="865022" cy="292608"/>
          </a:xfrm>
          <a:prstGeom prst="rect">
            <a:avLst/>
          </a:prstGeom>
          <a:solidFill>
            <a:srgbClr val="A68BD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596" y="4663440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Hiring → Pre-Onboarding → KT → Guided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Critical path: </a:t>
            </a:r>
            <a:r>
              <a:rPr sz="1400" b="0" i="0">
                <a:solidFill>
                  <a:srgbClr val="F1F5F9"/>
                </a:solidFill>
                <a:latin typeface="Calibri"/>
              </a:rPr>
              <a:t>Record-to-Report (RTR) — 10-week hiring plus 8-week KT and 8-week Guided Production. Any slip in contract signature moves every go-live date one-for-one.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Finance Transition Program  |  Acme Corp  |  Working days Mon–Fri; 1 week = 5 working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40" name="Theme switch"/>
          <p:cNvSpPr/>
          <p:nvPr/>
        </p:nvSpPr>
        <p:spPr>
          <a:xfrm>
            <a:off x="9960559" y="3474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heme light">
            <a:hlinkClick action="ppaction://hlinksldjump" r:id="rId2"/>
          </p:cNvPr>
          <p:cNvSpPr/>
          <p:nvPr/>
        </p:nvSpPr>
        <p:spPr>
          <a:xfrm>
            <a:off x="9997135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☀ Light</a:t>
            </a:r>
          </a:p>
        </p:txBody>
      </p:sp>
      <p:sp>
        <p:nvSpPr>
          <p:cNvPr id="42" name="Theme dark"/>
          <p:cNvSpPr/>
          <p:nvPr/>
        </p:nvSpPr>
        <p:spPr>
          <a:xfrm>
            <a:off x="10893247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☾ Dark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9265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Calibri"/>
              </a:rPr>
              <a:t>Timeline: contract to go-live by process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9265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★ Contract signed  ·  bars = working weeks per phase  ·  ◆ Go-Live = next working day after Guided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25880"/>
            <a:ext cx="50893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Oct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5010" y="1325880"/>
            <a:ext cx="11744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Nov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35010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609466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Dec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09466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823069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Jan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23069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036673" y="1325880"/>
            <a:ext cx="10961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Feb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6673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132832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Mar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2832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346435" y="1325880"/>
            <a:ext cx="11744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Apr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46435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0520891" y="1325880"/>
            <a:ext cx="121360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May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 27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20891" y="1325880"/>
            <a:ext cx="0" cy="4370832"/>
          </a:xfrm>
          <a:prstGeom prst="line">
            <a:avLst/>
          </a:prstGeom>
          <a:ln w="9525">
            <a:solidFill>
              <a:srgbClr val="33415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926080" y="1709928"/>
            <a:ext cx="8808415" cy="0"/>
          </a:xfrm>
          <a:prstGeom prst="line">
            <a:avLst/>
          </a:prstGeom>
          <a:ln w="12700">
            <a:solidFill>
              <a:srgbClr val="94A3B8"/>
            </a:solidFill>
          </a:ln>
        </p:spPr>
      </p:cxnSp>
      <p:sp>
        <p:nvSpPr>
          <p:cNvPr id="20" name="P2P band"/>
          <p:cNvSpPr/>
          <p:nvPr/>
        </p:nvSpPr>
        <p:spPr>
          <a:xfrm>
            <a:off x="457200" y="1783080"/>
            <a:ext cx="11277295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78308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Procure-to-Pay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  P2P</a:t>
            </a:r>
          </a:p>
        </p:txBody>
      </p:sp>
      <p:sp>
        <p:nvSpPr>
          <p:cNvPr id="22" name="P2P contract star"/>
          <p:cNvSpPr/>
          <p:nvPr/>
        </p:nvSpPr>
        <p:spPr>
          <a:xfrm>
            <a:off x="2807208" y="1828800"/>
            <a:ext cx="237744" cy="237744"/>
          </a:xfrm>
          <a:prstGeom prst="star5">
            <a:avLst/>
          </a:prstGeom>
          <a:solidFill>
            <a:srgbClr val="F2C9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2P go-live"/>
          <p:cNvSpPr/>
          <p:nvPr/>
        </p:nvSpPr>
        <p:spPr>
          <a:xfrm>
            <a:off x="7788213" y="1837943"/>
            <a:ext cx="219456" cy="219456"/>
          </a:xfrm>
          <a:prstGeom prst="diamond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2533" y="17830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Go-Live 23 Feb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1122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Hiring</a:t>
            </a:r>
          </a:p>
        </p:txBody>
      </p:sp>
      <p:sp>
        <p:nvSpPr>
          <p:cNvPr id="26" name="P2P Hiring bar"/>
          <p:cNvSpPr/>
          <p:nvPr/>
        </p:nvSpPr>
        <p:spPr>
          <a:xfrm>
            <a:off x="2965228" y="2148840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5B8FD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wks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3408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Pre-Onboarding</a:t>
            </a:r>
          </a:p>
        </p:txBody>
      </p:sp>
      <p:sp>
        <p:nvSpPr>
          <p:cNvPr id="28" name="P2P Pre-Onboarding bar"/>
          <p:cNvSpPr/>
          <p:nvPr/>
        </p:nvSpPr>
        <p:spPr>
          <a:xfrm>
            <a:off x="5157545" y="2377440"/>
            <a:ext cx="548079" cy="155448"/>
          </a:xfrm>
          <a:prstGeom prst="roundRect">
            <a:avLst>
              <a:gd name="adj" fmla="val 25000"/>
            </a:avLst>
          </a:prstGeom>
          <a:solidFill>
            <a:srgbClr val="A9C6E8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 wks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5694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Knowledge Transfer</a:t>
            </a:r>
          </a:p>
        </p:txBody>
      </p:sp>
      <p:sp>
        <p:nvSpPr>
          <p:cNvPr id="30" name="P2P Knowledge Transfer bar"/>
          <p:cNvSpPr/>
          <p:nvPr/>
        </p:nvSpPr>
        <p:spPr>
          <a:xfrm>
            <a:off x="5705624" y="2606040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F5B85A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4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7980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Guided Production</a:t>
            </a:r>
          </a:p>
        </p:txBody>
      </p:sp>
      <p:sp>
        <p:nvSpPr>
          <p:cNvPr id="32" name="P2P Guided Production bar"/>
          <p:cNvSpPr/>
          <p:nvPr/>
        </p:nvSpPr>
        <p:spPr>
          <a:xfrm>
            <a:off x="6801782" y="2834640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A68BD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 wks</a:t>
            </a:r>
          </a:p>
        </p:txBody>
      </p:sp>
      <p:sp>
        <p:nvSpPr>
          <p:cNvPr id="33" name="OTC band"/>
          <p:cNvSpPr/>
          <p:nvPr/>
        </p:nvSpPr>
        <p:spPr>
          <a:xfrm>
            <a:off x="457200" y="3118104"/>
            <a:ext cx="11277295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1810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Order-to-Cash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  OTC</a:t>
            </a:r>
          </a:p>
        </p:txBody>
      </p:sp>
      <p:sp>
        <p:nvSpPr>
          <p:cNvPr id="35" name="OTC contract star"/>
          <p:cNvSpPr/>
          <p:nvPr/>
        </p:nvSpPr>
        <p:spPr>
          <a:xfrm>
            <a:off x="2807208" y="3163824"/>
            <a:ext cx="237744" cy="237744"/>
          </a:xfrm>
          <a:prstGeom prst="star5">
            <a:avLst/>
          </a:prstGeom>
          <a:solidFill>
            <a:srgbClr val="F2C9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TC go-live"/>
          <p:cNvSpPr/>
          <p:nvPr/>
        </p:nvSpPr>
        <p:spPr>
          <a:xfrm>
            <a:off x="7788213" y="3172968"/>
            <a:ext cx="219456" cy="219456"/>
          </a:xfrm>
          <a:prstGeom prst="diamond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2533" y="311810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Go-Live 23 Feb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44728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Hiring</a:t>
            </a:r>
          </a:p>
        </p:txBody>
      </p:sp>
      <p:sp>
        <p:nvSpPr>
          <p:cNvPr id="39" name="OTC Hiring bar"/>
          <p:cNvSpPr/>
          <p:nvPr/>
        </p:nvSpPr>
        <p:spPr>
          <a:xfrm>
            <a:off x="2965228" y="3483864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5B8FD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wks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6758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Pre-Onboarding</a:t>
            </a:r>
          </a:p>
        </p:txBody>
      </p:sp>
      <p:sp>
        <p:nvSpPr>
          <p:cNvPr id="41" name="OTC Pre-Onboarding bar"/>
          <p:cNvSpPr/>
          <p:nvPr/>
        </p:nvSpPr>
        <p:spPr>
          <a:xfrm>
            <a:off x="5157545" y="3712463"/>
            <a:ext cx="548079" cy="155448"/>
          </a:xfrm>
          <a:prstGeom prst="roundRect">
            <a:avLst>
              <a:gd name="adj" fmla="val 25000"/>
            </a:avLst>
          </a:prstGeom>
          <a:solidFill>
            <a:srgbClr val="A9C6E8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 wks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39044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Knowledge Transfer</a:t>
            </a:r>
          </a:p>
        </p:txBody>
      </p:sp>
      <p:sp>
        <p:nvSpPr>
          <p:cNvPr id="43" name="OTC Knowledge Transfer bar"/>
          <p:cNvSpPr/>
          <p:nvPr/>
        </p:nvSpPr>
        <p:spPr>
          <a:xfrm>
            <a:off x="5705624" y="3941063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F5B85A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4 wks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1330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Guided Production</a:t>
            </a:r>
          </a:p>
        </p:txBody>
      </p:sp>
      <p:sp>
        <p:nvSpPr>
          <p:cNvPr id="45" name="OTC Guided Production bar"/>
          <p:cNvSpPr/>
          <p:nvPr/>
        </p:nvSpPr>
        <p:spPr>
          <a:xfrm>
            <a:off x="6801782" y="4169663"/>
            <a:ext cx="1096158" cy="155448"/>
          </a:xfrm>
          <a:prstGeom prst="roundRect">
            <a:avLst>
              <a:gd name="adj" fmla="val 25000"/>
            </a:avLst>
          </a:prstGeom>
          <a:solidFill>
            <a:srgbClr val="A68BD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 wks</a:t>
            </a:r>
          </a:p>
        </p:txBody>
      </p:sp>
      <p:sp>
        <p:nvSpPr>
          <p:cNvPr id="46" name="RTR band"/>
          <p:cNvSpPr/>
          <p:nvPr/>
        </p:nvSpPr>
        <p:spPr>
          <a:xfrm>
            <a:off x="457200" y="4453127"/>
            <a:ext cx="11277295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453127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Record-to-Report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  RTR</a:t>
            </a:r>
          </a:p>
        </p:txBody>
      </p:sp>
      <p:sp>
        <p:nvSpPr>
          <p:cNvPr id="48" name="RTR contract star"/>
          <p:cNvSpPr/>
          <p:nvPr/>
        </p:nvSpPr>
        <p:spPr>
          <a:xfrm>
            <a:off x="2807208" y="4498847"/>
            <a:ext cx="237744" cy="237744"/>
          </a:xfrm>
          <a:prstGeom prst="star5">
            <a:avLst/>
          </a:prstGeom>
          <a:solidFill>
            <a:srgbClr val="F2C9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TR go-live"/>
          <p:cNvSpPr/>
          <p:nvPr/>
        </p:nvSpPr>
        <p:spPr>
          <a:xfrm>
            <a:off x="10528608" y="4507991"/>
            <a:ext cx="219456" cy="219456"/>
          </a:xfrm>
          <a:prstGeom prst="diamond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2144" y="4453127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F87171"/>
                </a:solidFill>
                <a:latin typeface="Calibri"/>
              </a:rPr>
              <a:t>Go-Live 04 May 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823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Hiring</a:t>
            </a:r>
          </a:p>
        </p:txBody>
      </p:sp>
      <p:sp>
        <p:nvSpPr>
          <p:cNvPr id="52" name="RTR Hiring bar"/>
          <p:cNvSpPr/>
          <p:nvPr/>
        </p:nvSpPr>
        <p:spPr>
          <a:xfrm>
            <a:off x="2965228" y="4818888"/>
            <a:ext cx="2740395" cy="155448"/>
          </a:xfrm>
          <a:prstGeom prst="roundRect">
            <a:avLst>
              <a:gd name="adj" fmla="val 25000"/>
            </a:avLst>
          </a:prstGeom>
          <a:solidFill>
            <a:srgbClr val="5B8FD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 wks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010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Pre-Onboarding</a:t>
            </a:r>
          </a:p>
        </p:txBody>
      </p:sp>
      <p:sp>
        <p:nvSpPr>
          <p:cNvPr id="54" name="RTR Pre-Onboarding bar"/>
          <p:cNvSpPr/>
          <p:nvPr/>
        </p:nvSpPr>
        <p:spPr>
          <a:xfrm>
            <a:off x="5705624" y="5047488"/>
            <a:ext cx="548079" cy="155448"/>
          </a:xfrm>
          <a:prstGeom prst="roundRect">
            <a:avLst>
              <a:gd name="adj" fmla="val 25000"/>
            </a:avLst>
          </a:prstGeom>
          <a:solidFill>
            <a:srgbClr val="A9C6E8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 wks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2395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Knowledge Transfer</a:t>
            </a:r>
          </a:p>
        </p:txBody>
      </p:sp>
      <p:sp>
        <p:nvSpPr>
          <p:cNvPr id="56" name="RTR Knowledge Transfer bar"/>
          <p:cNvSpPr/>
          <p:nvPr/>
        </p:nvSpPr>
        <p:spPr>
          <a:xfrm>
            <a:off x="6253703" y="5276088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F5B85A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8 wks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4681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Guided Production</a:t>
            </a:r>
          </a:p>
        </p:txBody>
      </p:sp>
      <p:sp>
        <p:nvSpPr>
          <p:cNvPr id="58" name="RTR Guided Production bar"/>
          <p:cNvSpPr/>
          <p:nvPr/>
        </p:nvSpPr>
        <p:spPr>
          <a:xfrm>
            <a:off x="8446020" y="5504688"/>
            <a:ext cx="2192316" cy="155448"/>
          </a:xfrm>
          <a:prstGeom prst="roundRect">
            <a:avLst>
              <a:gd name="adj" fmla="val 25000"/>
            </a:avLst>
          </a:prstGeom>
          <a:solidFill>
            <a:srgbClr val="A68BD6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wks</a:t>
            </a:r>
          </a:p>
        </p:txBody>
      </p:sp>
      <p:sp>
        <p:nvSpPr>
          <p:cNvPr id="59" name="5-Point Star 58"/>
          <p:cNvSpPr/>
          <p:nvPr/>
        </p:nvSpPr>
        <p:spPr>
          <a:xfrm>
            <a:off x="457200" y="6153912"/>
            <a:ext cx="182880" cy="182880"/>
          </a:xfrm>
          <a:prstGeom prst="star5">
            <a:avLst/>
          </a:prstGeom>
          <a:solidFill>
            <a:srgbClr val="F2C9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6126480"/>
            <a:ext cx="11201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Contract Signed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61972" y="6153912"/>
            <a:ext cx="365760" cy="182880"/>
          </a:xfrm>
          <a:prstGeom prst="roundRect">
            <a:avLst/>
          </a:prstGeom>
          <a:solidFill>
            <a:srgbClr val="5B8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00884" y="6126480"/>
            <a:ext cx="5029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Hiring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32403" y="6153912"/>
            <a:ext cx="365760" cy="182880"/>
          </a:xfrm>
          <a:prstGeom prst="roundRect">
            <a:avLst/>
          </a:prstGeom>
          <a:solidFill>
            <a:srgbClr val="A9C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1315" y="612648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Pre-Onboarding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51476" y="6153912"/>
            <a:ext cx="365760" cy="182880"/>
          </a:xfrm>
          <a:prstGeom prst="roundRect">
            <a:avLst/>
          </a:prstGeom>
          <a:solidFill>
            <a:srgbClr val="F5B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90388" y="6126480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Knowledge Transfer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4868" y="6153912"/>
            <a:ext cx="365760" cy="182880"/>
          </a:xfrm>
          <a:prstGeom prst="roundRect">
            <a:avLst/>
          </a:prstGeom>
          <a:solidFill>
            <a:srgbClr val="A68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83780" y="6126480"/>
            <a:ext cx="12573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Guided Production</a:t>
            </a:r>
          </a:p>
        </p:txBody>
      </p:sp>
      <p:sp>
        <p:nvSpPr>
          <p:cNvPr id="69" name="Diamond 68"/>
          <p:cNvSpPr/>
          <p:nvPr/>
        </p:nvSpPr>
        <p:spPr>
          <a:xfrm>
            <a:off x="8869680" y="6153912"/>
            <a:ext cx="182880" cy="182880"/>
          </a:xfrm>
          <a:prstGeom prst="diamond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25712" y="6126480"/>
            <a:ext cx="5715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Go-Live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Finance Transition Program  |  Acme Corp  |  Working days Mon–Fri; 1 week = 5 working days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73" name="Theme switch"/>
          <p:cNvSpPr/>
          <p:nvPr/>
        </p:nvSpPr>
        <p:spPr>
          <a:xfrm>
            <a:off x="9960559" y="3474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heme light">
            <a:hlinkClick action="ppaction://hlinksldjump" r:id="rId2"/>
          </p:cNvPr>
          <p:cNvSpPr/>
          <p:nvPr/>
        </p:nvSpPr>
        <p:spPr>
          <a:xfrm>
            <a:off x="9997135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☀ Light</a:t>
            </a:r>
          </a:p>
        </p:txBody>
      </p:sp>
      <p:sp>
        <p:nvSpPr>
          <p:cNvPr id="75" name="Theme dark"/>
          <p:cNvSpPr/>
          <p:nvPr/>
        </p:nvSpPr>
        <p:spPr>
          <a:xfrm>
            <a:off x="10893247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☾ Dark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9265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Calibri"/>
              </a:rPr>
              <a:t>Key dates and planning rules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9265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All dates are working days; edit the Excel 'Inputs' sheet to re-plan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600200"/>
                <a:gridCol w="1600200"/>
                <a:gridCol w="1600200"/>
                <a:gridCol w="1600200"/>
                <a:gridCol w="149321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★ Contract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Hiring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Pre-Onboarding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Knowledge Transfer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Guided Production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5F9"/>
                          </a:solidFill>
                          <a:latin typeface="Calibri"/>
                        </a:rPr>
                        <a:t>◆ Go-Live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1F5F9"/>
                          </a:solidFill>
                          <a:latin typeface="Calibri"/>
                        </a:rPr>
                        <a:t>Procure-to-Pay (P2P)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19-Oct-26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20-Oct → 14-Dec  (8w)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15-Dec → 28-Dec  (2w)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29-Dec → 25-Jan  (4w)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26-Jan → 22-Feb  (4w)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</a:rPr>
                        <a:t>23-Feb-27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1F5F9"/>
                          </a:solidFill>
                          <a:latin typeface="Calibri"/>
                        </a:rPr>
                        <a:t>Order-to-Cash (OTC)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19-Oct-26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20-Oct → 14-Dec  (8w)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15-Dec → 28-Dec  (2w)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29-Dec → 25-Jan  (4w)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26-Jan → 22-Feb  (4w)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</a:rPr>
                        <a:t>23-Feb-27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1F5F9"/>
                          </a:solidFill>
                          <a:latin typeface="Calibri"/>
                        </a:rPr>
                        <a:t>Record-to-Report (RTR)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19-Oct-26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20-Oct → 28-Dec  (10w)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29-Dec → 11-Jan  (2w)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12-Jan → 08-Mar  (8w)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1F5F9"/>
                          </a:solidFill>
                          <a:latin typeface="Calibri"/>
                        </a:rPr>
                        <a:t>09-Mar → 03-May  (8w)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</a:rPr>
                        <a:t>04-May-27</a:t>
                      </a:r>
                    </a:p>
                  </a:txBody>
                  <a:tcPr marL="73152" marR="73152" anchor="ctr">
                    <a:lnL w="9525">
                      <a:solidFill>
                        <a:srgbClr val="334155"/>
                      </a:solidFill>
                    </a:lnL>
                    <a:lnR w="9525">
                      <a:solidFill>
                        <a:srgbClr val="334155"/>
                      </a:solidFill>
                    </a:lnR>
                    <a:lnT w="9525">
                      <a:solidFill>
                        <a:srgbClr val="334155"/>
                      </a:solidFill>
                    </a:lnT>
                    <a:lnB w="9525">
                      <a:solidFill>
                        <a:srgbClr val="334155"/>
                      </a:solidFill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Planning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★ Contract Signed — project date (can be overridden per process)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Hiring — 8 to 10 weeks standard, from the next working day after contract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Pre-Onboarding — 2 weeks after hiring end date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Knowledge Transfer — P2P 4w, OTC 4w, RTR 8w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Guided Production — P2P 4w, OTC 4w, RTR 8w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◆ Go-Live — next working day after Guided Production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374903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Colour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4206240"/>
            <a:ext cx="411480" cy="219456"/>
          </a:xfrm>
          <a:prstGeom prst="roundRect">
            <a:avLst/>
          </a:prstGeom>
          <a:solidFill>
            <a:srgbClr val="5B8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417880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Hiring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590288"/>
            <a:ext cx="411480" cy="219456"/>
          </a:xfrm>
          <a:prstGeom prst="roundRect">
            <a:avLst/>
          </a:prstGeom>
          <a:solidFill>
            <a:srgbClr val="A9C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456285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Pre-Onboarding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974336"/>
            <a:ext cx="411480" cy="219456"/>
          </a:xfrm>
          <a:prstGeom prst="roundRect">
            <a:avLst/>
          </a:prstGeom>
          <a:solidFill>
            <a:srgbClr val="F5B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494690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Knowledge 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5358383"/>
            <a:ext cx="411480" cy="219456"/>
          </a:xfrm>
          <a:prstGeom prst="roundRect">
            <a:avLst/>
          </a:prstGeom>
          <a:solidFill>
            <a:srgbClr val="A68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533095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Guided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Finance Transition Program  |  Acme Corp  |  Working days Mon–Fri; 1 week = 5 working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18" name="Theme switch"/>
          <p:cNvSpPr/>
          <p:nvPr/>
        </p:nvSpPr>
        <p:spPr>
          <a:xfrm>
            <a:off x="9960559" y="3474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heme light">
            <a:hlinkClick action="ppaction://hlinksldjump" r:id="rId2"/>
          </p:cNvPr>
          <p:cNvSpPr/>
          <p:nvPr/>
        </p:nvSpPr>
        <p:spPr>
          <a:xfrm>
            <a:off x="9997135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☀ Light</a:t>
            </a:r>
          </a:p>
        </p:txBody>
      </p:sp>
      <p:sp>
        <p:nvSpPr>
          <p:cNvPr id="20" name="Theme dark"/>
          <p:cNvSpPr/>
          <p:nvPr/>
        </p:nvSpPr>
        <p:spPr>
          <a:xfrm>
            <a:off x="10893247" y="384048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☾ Dark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Transition Program — Project Plan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