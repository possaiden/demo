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All processes live by 04 May 2027 — 28 weeks from contract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★ Contract signed 19 Oct 2026   ·   3 processes   ·   phased go-live by vertical</a:t>
            </a:r>
          </a:p>
        </p:txBody>
      </p:sp>
      <p:sp>
        <p:nvSpPr>
          <p:cNvPr id="4" name="Card P2P"/>
          <p:cNvSpPr/>
          <p:nvPr/>
        </p:nvSpPr>
        <p:spPr>
          <a:xfrm>
            <a:off x="457200" y="1508760"/>
            <a:ext cx="3576218" cy="38862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027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Procure-to-Pay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685800" cy="27432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P2P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◆  GO-LIVE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30275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C0392B"/>
                </a:solidFill>
                <a:latin typeface="Calibri"/>
              </a:rPr>
              <a:t>23 Feb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Tuesday  ·  18 weeks from contract</a:t>
            </a:r>
          </a:p>
        </p:txBody>
      </p:sp>
      <p:sp>
        <p:nvSpPr>
          <p:cNvPr id="10" name="P2P Hiring"/>
          <p:cNvSpPr/>
          <p:nvPr/>
        </p:nvSpPr>
        <p:spPr>
          <a:xfrm>
            <a:off x="731520" y="4251960"/>
            <a:ext cx="1345590" cy="292608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8w</a:t>
            </a:r>
          </a:p>
        </p:txBody>
      </p:sp>
      <p:sp>
        <p:nvSpPr>
          <p:cNvPr id="11" name="P2P Pre-Onboarding"/>
          <p:cNvSpPr/>
          <p:nvPr/>
        </p:nvSpPr>
        <p:spPr>
          <a:xfrm>
            <a:off x="2077110" y="4251960"/>
            <a:ext cx="336397" cy="292608"/>
          </a:xfrm>
          <a:prstGeom prst="rect">
            <a:avLst/>
          </a:prstGeom>
          <a:solidFill>
            <a:srgbClr val="9BBBD9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2w</a:t>
            </a:r>
          </a:p>
        </p:txBody>
      </p:sp>
      <p:sp>
        <p:nvSpPr>
          <p:cNvPr id="12" name="P2P Knowledge Transfer"/>
          <p:cNvSpPr/>
          <p:nvPr/>
        </p:nvSpPr>
        <p:spPr>
          <a:xfrm>
            <a:off x="2413508" y="4251960"/>
            <a:ext cx="672795" cy="292608"/>
          </a:xfrm>
          <a:prstGeom prst="rect">
            <a:avLst/>
          </a:prstGeom>
          <a:solidFill>
            <a:srgbClr val="F2A541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4w</a:t>
            </a:r>
          </a:p>
        </p:txBody>
      </p:sp>
      <p:sp>
        <p:nvSpPr>
          <p:cNvPr id="13" name="P2P Guided Production"/>
          <p:cNvSpPr/>
          <p:nvPr/>
        </p:nvSpPr>
        <p:spPr>
          <a:xfrm>
            <a:off x="3086303" y="4251960"/>
            <a:ext cx="672795" cy="29260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302757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Hiring → Pre-Onboarding → KT → Guided Production</a:t>
            </a:r>
          </a:p>
        </p:txBody>
      </p:sp>
      <p:sp>
        <p:nvSpPr>
          <p:cNvPr id="15" name="Card OTC"/>
          <p:cNvSpPr/>
          <p:nvPr/>
        </p:nvSpPr>
        <p:spPr>
          <a:xfrm>
            <a:off x="4307738" y="1508760"/>
            <a:ext cx="3576218" cy="38862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2058" y="1737360"/>
            <a:ext cx="3027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Order-to-Cash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82058" y="2194560"/>
            <a:ext cx="685800" cy="27432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OTC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2058" y="269748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◆  GO-LIVE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2058" y="2971800"/>
            <a:ext cx="30275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C0392B"/>
                </a:solidFill>
                <a:latin typeface="Calibri"/>
              </a:rPr>
              <a:t>23 Feb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2058" y="370332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Tuesday  ·  18 weeks from contract</a:t>
            </a:r>
          </a:p>
        </p:txBody>
      </p:sp>
      <p:sp>
        <p:nvSpPr>
          <p:cNvPr id="21" name="OTC Hiring"/>
          <p:cNvSpPr/>
          <p:nvPr/>
        </p:nvSpPr>
        <p:spPr>
          <a:xfrm>
            <a:off x="4582058" y="4251960"/>
            <a:ext cx="1345590" cy="292608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8w</a:t>
            </a:r>
          </a:p>
        </p:txBody>
      </p:sp>
      <p:sp>
        <p:nvSpPr>
          <p:cNvPr id="22" name="OTC Pre-Onboarding"/>
          <p:cNvSpPr/>
          <p:nvPr/>
        </p:nvSpPr>
        <p:spPr>
          <a:xfrm>
            <a:off x="5927648" y="4251960"/>
            <a:ext cx="336397" cy="292608"/>
          </a:xfrm>
          <a:prstGeom prst="rect">
            <a:avLst/>
          </a:prstGeom>
          <a:solidFill>
            <a:srgbClr val="9BBBD9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2w</a:t>
            </a:r>
          </a:p>
        </p:txBody>
      </p:sp>
      <p:sp>
        <p:nvSpPr>
          <p:cNvPr id="23" name="OTC Knowledge Transfer"/>
          <p:cNvSpPr/>
          <p:nvPr/>
        </p:nvSpPr>
        <p:spPr>
          <a:xfrm>
            <a:off x="6264046" y="4251960"/>
            <a:ext cx="672795" cy="292608"/>
          </a:xfrm>
          <a:prstGeom prst="rect">
            <a:avLst/>
          </a:prstGeom>
          <a:solidFill>
            <a:srgbClr val="F2A541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4w</a:t>
            </a:r>
          </a:p>
        </p:txBody>
      </p:sp>
      <p:sp>
        <p:nvSpPr>
          <p:cNvPr id="24" name="OTC Guided Production"/>
          <p:cNvSpPr/>
          <p:nvPr/>
        </p:nvSpPr>
        <p:spPr>
          <a:xfrm>
            <a:off x="6936841" y="4251960"/>
            <a:ext cx="672795" cy="29260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2058" y="4663440"/>
            <a:ext cx="302757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Hiring → Pre-Onboarding → KT → Guided Production</a:t>
            </a:r>
          </a:p>
        </p:txBody>
      </p:sp>
      <p:sp>
        <p:nvSpPr>
          <p:cNvPr id="26" name="Card RTR"/>
          <p:cNvSpPr/>
          <p:nvPr/>
        </p:nvSpPr>
        <p:spPr>
          <a:xfrm>
            <a:off x="8158276" y="1508760"/>
            <a:ext cx="3576218" cy="38862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2596" y="1737360"/>
            <a:ext cx="30275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Record-to-Report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2596" y="2194560"/>
            <a:ext cx="685800" cy="27432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RTR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2596" y="269748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◆  GO-LIVE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2596" y="2971800"/>
            <a:ext cx="30275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C0392B"/>
                </a:solidFill>
                <a:latin typeface="Calibri"/>
              </a:rPr>
              <a:t>04 May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2596" y="3703320"/>
            <a:ext cx="30275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Tuesday  ·  28 weeks from contract</a:t>
            </a:r>
          </a:p>
        </p:txBody>
      </p:sp>
      <p:sp>
        <p:nvSpPr>
          <p:cNvPr id="32" name="RTR Hiring"/>
          <p:cNvSpPr/>
          <p:nvPr/>
        </p:nvSpPr>
        <p:spPr>
          <a:xfrm>
            <a:off x="8432596" y="4251960"/>
            <a:ext cx="1081278" cy="292608"/>
          </a:xfrm>
          <a:prstGeom prst="rect">
            <a:avLst/>
          </a:prstGeom>
          <a:solidFill>
            <a:srgbClr val="3B6EA5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10w</a:t>
            </a:r>
          </a:p>
        </p:txBody>
      </p:sp>
      <p:sp>
        <p:nvSpPr>
          <p:cNvPr id="33" name="RTR Pre-Onboarding"/>
          <p:cNvSpPr/>
          <p:nvPr/>
        </p:nvSpPr>
        <p:spPr>
          <a:xfrm>
            <a:off x="9513874" y="4251960"/>
            <a:ext cx="216255" cy="292608"/>
          </a:xfrm>
          <a:prstGeom prst="rect">
            <a:avLst/>
          </a:prstGeom>
          <a:solidFill>
            <a:srgbClr val="9BBBD9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2w</a:t>
            </a:r>
          </a:p>
        </p:txBody>
      </p:sp>
      <p:sp>
        <p:nvSpPr>
          <p:cNvPr id="34" name="RTR Knowledge Transfer"/>
          <p:cNvSpPr/>
          <p:nvPr/>
        </p:nvSpPr>
        <p:spPr>
          <a:xfrm>
            <a:off x="9730130" y="4251960"/>
            <a:ext cx="865022" cy="292608"/>
          </a:xfrm>
          <a:prstGeom prst="rect">
            <a:avLst/>
          </a:prstGeom>
          <a:solidFill>
            <a:srgbClr val="F2A541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8w</a:t>
            </a:r>
          </a:p>
        </p:txBody>
      </p:sp>
      <p:sp>
        <p:nvSpPr>
          <p:cNvPr id="35" name="RTR Guided Production"/>
          <p:cNvSpPr/>
          <p:nvPr/>
        </p:nvSpPr>
        <p:spPr>
          <a:xfrm>
            <a:off x="10595152" y="4251960"/>
            <a:ext cx="865022" cy="29260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2596" y="4663440"/>
            <a:ext cx="302757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Hiring → Pre-Onboarding → KT → Guided 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Critical path: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Record-to-Report (RTR) — 10-week hiring plus 8-week KT and 8-week Guided Production. Any slip in contract signature moves every go-live date one-for-one.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Finance Transition Program  |  Acme Corp  |  Working days Mon–Fri; 1 week = 5 working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Timeline: contract to go-live by process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★ Contract signed  ·  bars = working weeks per phase  ·  ◆ Go-Live = next working day after Guided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325880"/>
            <a:ext cx="50893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Calibri"/>
              </a:rPr>
              <a:t>Oct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35010" y="1325880"/>
            <a:ext cx="117445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Calibri"/>
              </a:rPr>
              <a:t>Nov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 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35010" y="1325880"/>
            <a:ext cx="0" cy="4370832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4609466" y="1325880"/>
            <a:ext cx="121360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Calibri"/>
              </a:rPr>
              <a:t>Dec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 26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09466" y="1325880"/>
            <a:ext cx="0" cy="4370832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823069" y="1325880"/>
            <a:ext cx="121360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Calibri"/>
              </a:rPr>
              <a:t>Jan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 27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23069" y="1325880"/>
            <a:ext cx="0" cy="4370832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036673" y="1325880"/>
            <a:ext cx="10961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Calibri"/>
              </a:rPr>
              <a:t>Feb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 27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36673" y="1325880"/>
            <a:ext cx="0" cy="4370832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8132832" y="1325880"/>
            <a:ext cx="121360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Calibri"/>
              </a:rPr>
              <a:t>Mar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 27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2832" y="1325880"/>
            <a:ext cx="0" cy="4370832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346435" y="1325880"/>
            <a:ext cx="117445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Calibri"/>
              </a:rPr>
              <a:t>Apr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 27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46435" y="1325880"/>
            <a:ext cx="0" cy="4370832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10520891" y="1325880"/>
            <a:ext cx="121360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937"/>
                </a:solidFill>
                <a:latin typeface="Calibri"/>
              </a:rPr>
              <a:t>May</a:t>
            </a:r>
            <a:r>
              <a:rPr sz="1000" b="0" i="0">
                <a:solidFill>
                  <a:srgbClr val="6B7280"/>
                </a:solidFill>
                <a:latin typeface="Calibri"/>
              </a:rPr>
              <a:t> 27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520891" y="1325880"/>
            <a:ext cx="0" cy="4370832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2926080" y="1709928"/>
            <a:ext cx="8808415" cy="0"/>
          </a:xfrm>
          <a:prstGeom prst="line">
            <a:avLst/>
          </a:prstGeom>
          <a:ln w="12700">
            <a:solidFill>
              <a:srgbClr val="6B7280"/>
            </a:solidFill>
          </a:ln>
        </p:spPr>
      </p:cxnSp>
      <p:sp>
        <p:nvSpPr>
          <p:cNvPr id="20" name="P2P band"/>
          <p:cNvSpPr/>
          <p:nvPr/>
        </p:nvSpPr>
        <p:spPr>
          <a:xfrm>
            <a:off x="457200" y="1783080"/>
            <a:ext cx="11277295" cy="32918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78308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Procure-to-Pay</a:t>
            </a:r>
            <a:r>
              <a:rPr sz="1100" b="0" i="0">
                <a:solidFill>
                  <a:srgbClr val="6B7280"/>
                </a:solidFill>
                <a:latin typeface="Calibri"/>
              </a:rPr>
              <a:t>  P2P</a:t>
            </a:r>
          </a:p>
        </p:txBody>
      </p:sp>
      <p:sp>
        <p:nvSpPr>
          <p:cNvPr id="22" name="P2P contract star"/>
          <p:cNvSpPr/>
          <p:nvPr/>
        </p:nvSpPr>
        <p:spPr>
          <a:xfrm>
            <a:off x="2807208" y="1828800"/>
            <a:ext cx="237744" cy="237744"/>
          </a:xfrm>
          <a:prstGeom prst="star5">
            <a:avLst/>
          </a:pr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2P go-live"/>
          <p:cNvSpPr/>
          <p:nvPr/>
        </p:nvSpPr>
        <p:spPr>
          <a:xfrm>
            <a:off x="7788213" y="1837943"/>
            <a:ext cx="219456" cy="219456"/>
          </a:xfrm>
          <a:prstGeom prst="diamond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2533" y="178308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Calibri"/>
              </a:rPr>
              <a:t>Go-Live 23 Feb 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112264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Hiring</a:t>
            </a:r>
          </a:p>
        </p:txBody>
      </p:sp>
      <p:sp>
        <p:nvSpPr>
          <p:cNvPr id="26" name="P2P Hiring bar"/>
          <p:cNvSpPr/>
          <p:nvPr/>
        </p:nvSpPr>
        <p:spPr>
          <a:xfrm>
            <a:off x="2965228" y="2148840"/>
            <a:ext cx="2192316" cy="155448"/>
          </a:xfrm>
          <a:prstGeom prst="roundRect">
            <a:avLst>
              <a:gd name="adj" fmla="val 25000"/>
            </a:avLst>
          </a:prstGeom>
          <a:solidFill>
            <a:srgbClr val="3B6EA5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8 wks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2340864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Pre-Onboarding</a:t>
            </a:r>
          </a:p>
        </p:txBody>
      </p:sp>
      <p:sp>
        <p:nvSpPr>
          <p:cNvPr id="28" name="P2P Pre-Onboarding bar"/>
          <p:cNvSpPr/>
          <p:nvPr/>
        </p:nvSpPr>
        <p:spPr>
          <a:xfrm>
            <a:off x="5157545" y="2377440"/>
            <a:ext cx="548079" cy="155448"/>
          </a:xfrm>
          <a:prstGeom prst="roundRect">
            <a:avLst>
              <a:gd name="adj" fmla="val 25000"/>
            </a:avLst>
          </a:prstGeom>
          <a:solidFill>
            <a:srgbClr val="9BBBD9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1F2937"/>
                </a:solidFill>
                <a:latin typeface="Calibri"/>
              </a:rPr>
              <a:t>2 wks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569464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Knowledge Transfer</a:t>
            </a:r>
          </a:p>
        </p:txBody>
      </p:sp>
      <p:sp>
        <p:nvSpPr>
          <p:cNvPr id="30" name="P2P Knowledge Transfer bar"/>
          <p:cNvSpPr/>
          <p:nvPr/>
        </p:nvSpPr>
        <p:spPr>
          <a:xfrm>
            <a:off x="5705624" y="2606040"/>
            <a:ext cx="1096158" cy="155448"/>
          </a:xfrm>
          <a:prstGeom prst="roundRect">
            <a:avLst>
              <a:gd name="adj" fmla="val 25000"/>
            </a:avLst>
          </a:prstGeom>
          <a:solidFill>
            <a:srgbClr val="F2A541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1F2937"/>
                </a:solidFill>
                <a:latin typeface="Calibri"/>
              </a:rPr>
              <a:t>4 wks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98064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Guided Production</a:t>
            </a:r>
          </a:p>
        </p:txBody>
      </p:sp>
      <p:sp>
        <p:nvSpPr>
          <p:cNvPr id="32" name="P2P Guided Production bar"/>
          <p:cNvSpPr/>
          <p:nvPr/>
        </p:nvSpPr>
        <p:spPr>
          <a:xfrm>
            <a:off x="6801782" y="2834640"/>
            <a:ext cx="1096158" cy="155448"/>
          </a:xfrm>
          <a:prstGeom prst="roundRect">
            <a:avLst>
              <a:gd name="adj" fmla="val 25000"/>
            </a:avLst>
          </a:prstGeom>
          <a:solidFill>
            <a:srgbClr val="7B5EA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 wks</a:t>
            </a:r>
          </a:p>
        </p:txBody>
      </p:sp>
      <p:sp>
        <p:nvSpPr>
          <p:cNvPr id="33" name="OTC band"/>
          <p:cNvSpPr/>
          <p:nvPr/>
        </p:nvSpPr>
        <p:spPr>
          <a:xfrm>
            <a:off x="457200" y="3118104"/>
            <a:ext cx="11277295" cy="32918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118104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Order-to-Cash</a:t>
            </a:r>
            <a:r>
              <a:rPr sz="1100" b="0" i="0">
                <a:solidFill>
                  <a:srgbClr val="6B7280"/>
                </a:solidFill>
                <a:latin typeface="Calibri"/>
              </a:rPr>
              <a:t>  OTC</a:t>
            </a:r>
          </a:p>
        </p:txBody>
      </p:sp>
      <p:sp>
        <p:nvSpPr>
          <p:cNvPr id="35" name="OTC contract star"/>
          <p:cNvSpPr/>
          <p:nvPr/>
        </p:nvSpPr>
        <p:spPr>
          <a:xfrm>
            <a:off x="2807208" y="3163824"/>
            <a:ext cx="237744" cy="237744"/>
          </a:xfrm>
          <a:prstGeom prst="star5">
            <a:avLst/>
          </a:pr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TC go-live"/>
          <p:cNvSpPr/>
          <p:nvPr/>
        </p:nvSpPr>
        <p:spPr>
          <a:xfrm>
            <a:off x="7788213" y="3172968"/>
            <a:ext cx="219456" cy="219456"/>
          </a:xfrm>
          <a:prstGeom prst="diamond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62533" y="3118104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Calibri"/>
              </a:rPr>
              <a:t>Go-Live 23 Feb 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44728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Hiring</a:t>
            </a:r>
          </a:p>
        </p:txBody>
      </p:sp>
      <p:sp>
        <p:nvSpPr>
          <p:cNvPr id="39" name="OTC Hiring bar"/>
          <p:cNvSpPr/>
          <p:nvPr/>
        </p:nvSpPr>
        <p:spPr>
          <a:xfrm>
            <a:off x="2965228" y="3483864"/>
            <a:ext cx="2192316" cy="155448"/>
          </a:xfrm>
          <a:prstGeom prst="roundRect">
            <a:avLst>
              <a:gd name="adj" fmla="val 25000"/>
            </a:avLst>
          </a:prstGeom>
          <a:solidFill>
            <a:srgbClr val="3B6EA5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8 wks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675887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Pre-Onboarding</a:t>
            </a:r>
          </a:p>
        </p:txBody>
      </p:sp>
      <p:sp>
        <p:nvSpPr>
          <p:cNvPr id="41" name="OTC Pre-Onboarding bar"/>
          <p:cNvSpPr/>
          <p:nvPr/>
        </p:nvSpPr>
        <p:spPr>
          <a:xfrm>
            <a:off x="5157545" y="3712463"/>
            <a:ext cx="548079" cy="155448"/>
          </a:xfrm>
          <a:prstGeom prst="roundRect">
            <a:avLst>
              <a:gd name="adj" fmla="val 25000"/>
            </a:avLst>
          </a:prstGeom>
          <a:solidFill>
            <a:srgbClr val="9BBBD9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1F2937"/>
                </a:solidFill>
                <a:latin typeface="Calibri"/>
              </a:rPr>
              <a:t>2 wks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3904487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Knowledge Transfer</a:t>
            </a:r>
          </a:p>
        </p:txBody>
      </p:sp>
      <p:sp>
        <p:nvSpPr>
          <p:cNvPr id="43" name="OTC Knowledge Transfer bar"/>
          <p:cNvSpPr/>
          <p:nvPr/>
        </p:nvSpPr>
        <p:spPr>
          <a:xfrm>
            <a:off x="5705624" y="3941063"/>
            <a:ext cx="1096158" cy="155448"/>
          </a:xfrm>
          <a:prstGeom prst="roundRect">
            <a:avLst>
              <a:gd name="adj" fmla="val 25000"/>
            </a:avLst>
          </a:prstGeom>
          <a:solidFill>
            <a:srgbClr val="F2A541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1F2937"/>
                </a:solidFill>
                <a:latin typeface="Calibri"/>
              </a:rPr>
              <a:t>4 wks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133087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Guided Production</a:t>
            </a:r>
          </a:p>
        </p:txBody>
      </p:sp>
      <p:sp>
        <p:nvSpPr>
          <p:cNvPr id="45" name="OTC Guided Production bar"/>
          <p:cNvSpPr/>
          <p:nvPr/>
        </p:nvSpPr>
        <p:spPr>
          <a:xfrm>
            <a:off x="6801782" y="4169663"/>
            <a:ext cx="1096158" cy="155448"/>
          </a:xfrm>
          <a:prstGeom prst="roundRect">
            <a:avLst>
              <a:gd name="adj" fmla="val 25000"/>
            </a:avLst>
          </a:prstGeom>
          <a:solidFill>
            <a:srgbClr val="7B5EA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 wks</a:t>
            </a:r>
          </a:p>
        </p:txBody>
      </p:sp>
      <p:sp>
        <p:nvSpPr>
          <p:cNvPr id="46" name="RTR band"/>
          <p:cNvSpPr/>
          <p:nvPr/>
        </p:nvSpPr>
        <p:spPr>
          <a:xfrm>
            <a:off x="457200" y="4453127"/>
            <a:ext cx="11277295" cy="32918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53127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Record-to-Report</a:t>
            </a:r>
            <a:r>
              <a:rPr sz="1100" b="0" i="0">
                <a:solidFill>
                  <a:srgbClr val="6B7280"/>
                </a:solidFill>
                <a:latin typeface="Calibri"/>
              </a:rPr>
              <a:t>  RTR</a:t>
            </a:r>
          </a:p>
        </p:txBody>
      </p:sp>
      <p:sp>
        <p:nvSpPr>
          <p:cNvPr id="48" name="RTR contract star"/>
          <p:cNvSpPr/>
          <p:nvPr/>
        </p:nvSpPr>
        <p:spPr>
          <a:xfrm>
            <a:off x="2807208" y="4498847"/>
            <a:ext cx="237744" cy="237744"/>
          </a:xfrm>
          <a:prstGeom prst="star5">
            <a:avLst/>
          </a:pr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TR go-live"/>
          <p:cNvSpPr/>
          <p:nvPr/>
        </p:nvSpPr>
        <p:spPr>
          <a:xfrm>
            <a:off x="10528608" y="4507991"/>
            <a:ext cx="219456" cy="219456"/>
          </a:xfrm>
          <a:prstGeom prst="diamond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2144" y="4453127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C0392B"/>
                </a:solidFill>
                <a:latin typeface="Calibri"/>
              </a:rPr>
              <a:t>Go-Live 04 May 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47823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Hiring</a:t>
            </a:r>
          </a:p>
        </p:txBody>
      </p:sp>
      <p:sp>
        <p:nvSpPr>
          <p:cNvPr id="52" name="RTR Hiring bar"/>
          <p:cNvSpPr/>
          <p:nvPr/>
        </p:nvSpPr>
        <p:spPr>
          <a:xfrm>
            <a:off x="2965228" y="4818888"/>
            <a:ext cx="2740395" cy="155448"/>
          </a:xfrm>
          <a:prstGeom prst="roundRect">
            <a:avLst>
              <a:gd name="adj" fmla="val 25000"/>
            </a:avLst>
          </a:prstGeom>
          <a:solidFill>
            <a:srgbClr val="3B6EA5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10 wks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0109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Pre-Onboarding</a:t>
            </a:r>
          </a:p>
        </p:txBody>
      </p:sp>
      <p:sp>
        <p:nvSpPr>
          <p:cNvPr id="54" name="RTR Pre-Onboarding bar"/>
          <p:cNvSpPr/>
          <p:nvPr/>
        </p:nvSpPr>
        <p:spPr>
          <a:xfrm>
            <a:off x="5705624" y="5047488"/>
            <a:ext cx="548079" cy="155448"/>
          </a:xfrm>
          <a:prstGeom prst="roundRect">
            <a:avLst>
              <a:gd name="adj" fmla="val 25000"/>
            </a:avLst>
          </a:prstGeom>
          <a:solidFill>
            <a:srgbClr val="9BBBD9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1F2937"/>
                </a:solidFill>
                <a:latin typeface="Calibri"/>
              </a:rPr>
              <a:t>2 wks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52395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Knowledge Transfer</a:t>
            </a:r>
          </a:p>
        </p:txBody>
      </p:sp>
      <p:sp>
        <p:nvSpPr>
          <p:cNvPr id="56" name="RTR Knowledge Transfer bar"/>
          <p:cNvSpPr/>
          <p:nvPr/>
        </p:nvSpPr>
        <p:spPr>
          <a:xfrm>
            <a:off x="6253703" y="5276088"/>
            <a:ext cx="2192316" cy="155448"/>
          </a:xfrm>
          <a:prstGeom prst="roundRect">
            <a:avLst>
              <a:gd name="adj" fmla="val 25000"/>
            </a:avLst>
          </a:prstGeom>
          <a:solidFill>
            <a:srgbClr val="F2A541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1F2937"/>
                </a:solidFill>
                <a:latin typeface="Calibri"/>
              </a:rPr>
              <a:t>8 wks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54681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Guided Production</a:t>
            </a:r>
          </a:p>
        </p:txBody>
      </p:sp>
      <p:sp>
        <p:nvSpPr>
          <p:cNvPr id="58" name="RTR Guided Production bar"/>
          <p:cNvSpPr/>
          <p:nvPr/>
        </p:nvSpPr>
        <p:spPr>
          <a:xfrm>
            <a:off x="8446020" y="5504688"/>
            <a:ext cx="2192316" cy="155448"/>
          </a:xfrm>
          <a:prstGeom prst="roundRect">
            <a:avLst>
              <a:gd name="adj" fmla="val 25000"/>
            </a:avLst>
          </a:prstGeom>
          <a:solidFill>
            <a:srgbClr val="7B5EA7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8 wks</a:t>
            </a:r>
          </a:p>
        </p:txBody>
      </p:sp>
      <p:sp>
        <p:nvSpPr>
          <p:cNvPr id="59" name="5-Point Star 58"/>
          <p:cNvSpPr/>
          <p:nvPr/>
        </p:nvSpPr>
        <p:spPr>
          <a:xfrm>
            <a:off x="457200" y="6153912"/>
            <a:ext cx="182880" cy="182880"/>
          </a:xfrm>
          <a:prstGeom prst="star5">
            <a:avLst/>
          </a:pr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" y="6126480"/>
            <a:ext cx="11201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Contract Signed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61972" y="6153912"/>
            <a:ext cx="365760" cy="182880"/>
          </a:xfrm>
          <a:prstGeom prst="roundRect">
            <a:avLst/>
          </a:prstGeom>
          <a:solidFill>
            <a:srgbClr val="3B6E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00884" y="6126480"/>
            <a:ext cx="50291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Hiring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32403" y="6153912"/>
            <a:ext cx="365760" cy="182880"/>
          </a:xfrm>
          <a:prstGeom prst="roundRect">
            <a:avLst/>
          </a:prstGeom>
          <a:solidFill>
            <a:srgbClr val="9BB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71315" y="61264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Pre-Onboarding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51476" y="6153912"/>
            <a:ext cx="365760" cy="182880"/>
          </a:xfrm>
          <a:prstGeom prst="roundRect">
            <a:avLst/>
          </a:prstGeom>
          <a:solidFill>
            <a:srgbClr val="F2A5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90388" y="6126480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Knowledge Transfer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944868" y="6153912"/>
            <a:ext cx="365760" cy="182880"/>
          </a:xfrm>
          <a:prstGeom prst="roundRect">
            <a:avLst/>
          </a:prstGeom>
          <a:solidFill>
            <a:srgbClr val="7B5E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83780" y="6126480"/>
            <a:ext cx="12573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Guided Production</a:t>
            </a:r>
          </a:p>
        </p:txBody>
      </p:sp>
      <p:sp>
        <p:nvSpPr>
          <p:cNvPr id="69" name="Diamond 68"/>
          <p:cNvSpPr/>
          <p:nvPr/>
        </p:nvSpPr>
        <p:spPr>
          <a:xfrm>
            <a:off x="8869680" y="6153912"/>
            <a:ext cx="182880" cy="182880"/>
          </a:xfrm>
          <a:prstGeom prst="diamond">
            <a:avLst/>
          </a:prstGeom>
          <a:solidFill>
            <a:srgbClr val="C03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25712" y="6126480"/>
            <a:ext cx="5715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Go-Live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Finance Transition Program  |  Acme Corp  |  Working days Mon–Fri; 1 week = 5 working days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Key dates and planning rules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All dates are working days; edit the Excel 'Inputs' sheet to re-plan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600200"/>
                <a:gridCol w="1600200"/>
                <a:gridCol w="1600200"/>
                <a:gridCol w="1600200"/>
                <a:gridCol w="1493215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73152" marR="7315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★ Contract</a:t>
                      </a:r>
                    </a:p>
                  </a:txBody>
                  <a:tcPr marL="73152" marR="7315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Hiring</a:t>
                      </a:r>
                    </a:p>
                  </a:txBody>
                  <a:tcPr marL="73152" marR="7315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Pre-Onboarding</a:t>
                      </a:r>
                    </a:p>
                  </a:txBody>
                  <a:tcPr marL="73152" marR="7315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Knowledge Transfer</a:t>
                      </a:r>
                    </a:p>
                  </a:txBody>
                  <a:tcPr marL="73152" marR="7315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Guided Production</a:t>
                      </a:r>
                    </a:p>
                  </a:txBody>
                  <a:tcPr marL="73152" marR="73152" anchor="ctr"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◆ Go-Live</a:t>
                      </a:r>
                    </a:p>
                  </a:txBody>
                  <a:tcPr marL="73152" marR="73152" anchor="ctr">
                    <a:solidFill>
                      <a:srgbClr val="1F29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Procure-to-Pay (P2P)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19-Oct-26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20-Oct → 14-Dec  (8w)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15-Dec → 28-Dec  (2w)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29-Dec → 25-Jan  (4w)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26-Jan → 22-Feb  (4w)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23-Feb-27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Order-to-Cash (OTC)</a:t>
                      </a:r>
                    </a:p>
                  </a:txBody>
                  <a:tcPr marL="73152" marR="7315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19-Oct-26</a:t>
                      </a:r>
                    </a:p>
                  </a:txBody>
                  <a:tcPr marL="73152" marR="7315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20-Oct → 14-Dec  (8w)</a:t>
                      </a:r>
                    </a:p>
                  </a:txBody>
                  <a:tcPr marL="73152" marR="7315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15-Dec → 28-Dec  (2w)</a:t>
                      </a:r>
                    </a:p>
                  </a:txBody>
                  <a:tcPr marL="73152" marR="7315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29-Dec → 25-Jan  (4w)</a:t>
                      </a:r>
                    </a:p>
                  </a:txBody>
                  <a:tcPr marL="73152" marR="7315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26-Jan → 22-Feb  (4w)</a:t>
                      </a:r>
                    </a:p>
                  </a:txBody>
                  <a:tcPr marL="73152" marR="7315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23-Feb-27</a:t>
                      </a:r>
                    </a:p>
                  </a:txBody>
                  <a:tcPr marL="73152" marR="73152"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Record-to-Report (RTR)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19-Oct-26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20-Oct → 28-Dec  (10w)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29-Dec → 11-Jan  (2w)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12-Jan → 08-Mar  (8w)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09-Mar → 03-May  (8w)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04-May-27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49039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7"/>
                </a:solidFill>
                <a:latin typeface="Calibri"/>
              </a:rPr>
              <a:t>Planning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★ Contract Signed — project date (can be overridden per process)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Hiring — 8 to 10 weeks standard, from the next working day after contract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Pre-Onboarding — 2 weeks after hiring end date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Knowledge Transfer — P2P 4w, OTC 4w, RTR 8w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Guided Production — P2P 4w, OTC 4w, RTR 8w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◆ Go-Live — next working day after Guided Production 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374903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7"/>
                </a:solidFill>
                <a:latin typeface="Calibri"/>
              </a:rPr>
              <a:t>Colour key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4206240"/>
            <a:ext cx="411480" cy="219456"/>
          </a:xfrm>
          <a:prstGeom prst="roundRect">
            <a:avLst/>
          </a:prstGeom>
          <a:solidFill>
            <a:srgbClr val="3B6E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0" y="4178807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Hiring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4590288"/>
            <a:ext cx="411480" cy="219456"/>
          </a:xfrm>
          <a:prstGeom prst="roundRect">
            <a:avLst/>
          </a:prstGeom>
          <a:solidFill>
            <a:srgbClr val="9BB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456285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Pre-Onboarding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4974336"/>
            <a:ext cx="411480" cy="219456"/>
          </a:xfrm>
          <a:prstGeom prst="roundRect">
            <a:avLst/>
          </a:prstGeom>
          <a:solidFill>
            <a:srgbClr val="F2A5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4946903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Knowledge Transfer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5358383"/>
            <a:ext cx="411480" cy="219456"/>
          </a:xfrm>
          <a:prstGeom prst="roundRect">
            <a:avLst/>
          </a:prstGeom>
          <a:solidFill>
            <a:srgbClr val="7B5EA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5330951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Guided 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Finance Transition Program  |  Acme Corp  |  Working days Mon–Fri; 1 week = 5 working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Finance Transition Program — Project Plan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